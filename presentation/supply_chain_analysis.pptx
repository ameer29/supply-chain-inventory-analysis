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6"/>
  </p:notesMasterIdLst>
  <p:sldIdLst>
    <p:sldId id="256" r:id="rId2"/>
    <p:sldId id="257" r:id="rId3"/>
    <p:sldId id="307" r:id="rId4"/>
    <p:sldId id="297" r:id="rId5"/>
    <p:sldId id="298" r:id="rId6"/>
    <p:sldId id="299" r:id="rId7"/>
    <p:sldId id="301" r:id="rId8"/>
    <p:sldId id="302" r:id="rId9"/>
    <p:sldId id="303" r:id="rId10"/>
    <p:sldId id="304" r:id="rId11"/>
    <p:sldId id="305" r:id="rId12"/>
    <p:sldId id="306" r:id="rId13"/>
    <p:sldId id="300" r:id="rId14"/>
    <p:sldId id="275" r:id="rId15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17"/>
      <p:bold r:id="rId18"/>
      <p:italic r:id="rId19"/>
      <p:boldItalic r:id="rId20"/>
    </p:embeddedFont>
    <p:embeddedFont>
      <p:font typeface="Arimo" panose="020B0604020202020204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</p:embeddedFont>
    <p:embeddedFont>
      <p:font typeface="Oswald" panose="00000500000000000000" pitchFamily="2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eer batcha" initials="ab" lastIdx="1" clrIdx="0">
    <p:extLst>
      <p:ext uri="{19B8F6BF-5375-455C-9EA6-DF929625EA0E}">
        <p15:presenceInfo xmlns:p15="http://schemas.microsoft.com/office/powerpoint/2012/main" userId="364ff9ae5b5766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DA8A95-9DE7-4649-BA9A-2FF249D98C58}">
  <a:tblStyle styleId="{B0DA8A95-9DE7-4649-BA9A-2FF249D98C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31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3909f52f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3909f52f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b0f9523dd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b0f9523dd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db0f9523dd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db0f9523dd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49375" y="1089700"/>
            <a:ext cx="6245400" cy="2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29900" y="3593600"/>
            <a:ext cx="4084200" cy="4602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430775" y="805250"/>
            <a:ext cx="1864500" cy="1893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-514725" y="3530250"/>
            <a:ext cx="1679100" cy="17049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681275" y="460857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6"/>
          <p:cNvGrpSpPr/>
          <p:nvPr/>
        </p:nvGrpSpPr>
        <p:grpSpPr>
          <a:xfrm>
            <a:off x="8710850" y="974125"/>
            <a:ext cx="223125" cy="1404088"/>
            <a:chOff x="681275" y="458425"/>
            <a:chExt cx="223125" cy="1404088"/>
          </a:xfrm>
        </p:grpSpPr>
        <p:sp>
          <p:nvSpPr>
            <p:cNvPr id="54" name="Google Shape;54;p6"/>
            <p:cNvSpPr/>
            <p:nvPr/>
          </p:nvSpPr>
          <p:spPr>
            <a:xfrm>
              <a:off x="681275" y="45842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/>
            <p:nvPr/>
          </p:nvSpPr>
          <p:spPr>
            <a:xfrm>
              <a:off x="681275" y="70260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6"/>
            <p:cNvSpPr/>
            <p:nvPr/>
          </p:nvSpPr>
          <p:spPr>
            <a:xfrm>
              <a:off x="681275" y="94679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>
              <a:off x="681275" y="119097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6"/>
            <p:cNvSpPr/>
            <p:nvPr/>
          </p:nvSpPr>
          <p:spPr>
            <a:xfrm>
              <a:off x="681275" y="143515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>
              <a:off x="681275" y="167933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843200" y="58040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843200" y="82458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843200" y="106876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843200" y="131294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843200" y="155713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843200" y="180131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6"/>
          <p:cNvSpPr/>
          <p:nvPr/>
        </p:nvSpPr>
        <p:spPr>
          <a:xfrm>
            <a:off x="8546113" y="43754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 flipH="1">
            <a:off x="-788325" y="4282375"/>
            <a:ext cx="1952700" cy="1982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/>
          <p:nvPr/>
        </p:nvSpPr>
        <p:spPr>
          <a:xfrm flipH="1">
            <a:off x="-514725" y="3530250"/>
            <a:ext cx="1679100" cy="17049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flipH="1">
            <a:off x="671750" y="472287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 txBox="1">
            <a:spLocks noGrp="1"/>
          </p:cNvSpPr>
          <p:nvPr>
            <p:ph type="title"/>
          </p:nvPr>
        </p:nvSpPr>
        <p:spPr>
          <a:xfrm>
            <a:off x="1803425" y="1231225"/>
            <a:ext cx="5537100" cy="268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8"/>
          <p:cNvSpPr/>
          <p:nvPr/>
        </p:nvSpPr>
        <p:spPr>
          <a:xfrm flipH="1">
            <a:off x="6600075" y="-425275"/>
            <a:ext cx="1333200" cy="10671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"/>
          <p:cNvSpPr/>
          <p:nvPr/>
        </p:nvSpPr>
        <p:spPr>
          <a:xfrm flipH="1">
            <a:off x="7115800" y="-320500"/>
            <a:ext cx="1864500" cy="1893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8"/>
          <p:cNvGrpSpPr/>
          <p:nvPr/>
        </p:nvGrpSpPr>
        <p:grpSpPr>
          <a:xfrm>
            <a:off x="3948419" y="4537831"/>
            <a:ext cx="1404088" cy="223125"/>
            <a:chOff x="3948419" y="4537831"/>
            <a:chExt cx="1404088" cy="223125"/>
          </a:xfrm>
        </p:grpSpPr>
        <p:sp>
          <p:nvSpPr>
            <p:cNvPr id="84" name="Google Shape;84;p8"/>
            <p:cNvSpPr/>
            <p:nvPr/>
          </p:nvSpPr>
          <p:spPr>
            <a:xfrm rot="-5400000">
              <a:off x="3948419" y="4699756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4192601" y="4699756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4436784" y="4699756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4680966" y="4699756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4925149" y="4699756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rot="-5400000">
              <a:off x="5169331" y="4699756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4070394" y="4537831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rot="-5400000">
              <a:off x="4314576" y="4537831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4558759" y="4537831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rot="-5400000">
              <a:off x="4802941" y="4537831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 rot="-5400000">
              <a:off x="5047124" y="4537831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 rot="-5400000">
              <a:off x="5291306" y="4537831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" name="Google Shape;96;p8"/>
          <p:cNvSpPr/>
          <p:nvPr/>
        </p:nvSpPr>
        <p:spPr>
          <a:xfrm>
            <a:off x="713225" y="194000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1265825" y="194000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8"/>
          <p:cNvSpPr/>
          <p:nvPr/>
        </p:nvSpPr>
        <p:spPr>
          <a:xfrm flipH="1">
            <a:off x="8430775" y="91562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8"/>
          <p:cNvSpPr/>
          <p:nvPr/>
        </p:nvSpPr>
        <p:spPr>
          <a:xfrm flipH="1">
            <a:off x="1265825" y="3846725"/>
            <a:ext cx="1404000" cy="14259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8"/>
          <p:cNvSpPr/>
          <p:nvPr/>
        </p:nvSpPr>
        <p:spPr>
          <a:xfrm flipH="1">
            <a:off x="185975" y="356847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>
            <a:spLocks noGrp="1"/>
          </p:cNvSpPr>
          <p:nvPr>
            <p:ph type="body" idx="1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"/>
          <p:cNvSpPr/>
          <p:nvPr/>
        </p:nvSpPr>
        <p:spPr>
          <a:xfrm flipH="1">
            <a:off x="8209700" y="1625100"/>
            <a:ext cx="1864500" cy="1893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/>
          <p:nvPr/>
        </p:nvSpPr>
        <p:spPr>
          <a:xfrm flipH="1">
            <a:off x="8553800" y="263012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89750" y="44383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642350" y="44383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0"/>
          <p:cNvSpPr txBox="1">
            <a:spLocks noGrp="1"/>
          </p:cNvSpPr>
          <p:nvPr>
            <p:ph type="body" idx="1"/>
          </p:nvPr>
        </p:nvSpPr>
        <p:spPr>
          <a:xfrm>
            <a:off x="1656875" y="3812850"/>
            <a:ext cx="5830200" cy="605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2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80" name="Google Shape;180;p14"/>
          <p:cNvGrpSpPr/>
          <p:nvPr/>
        </p:nvGrpSpPr>
        <p:grpSpPr>
          <a:xfrm>
            <a:off x="8710850" y="1488475"/>
            <a:ext cx="223125" cy="1404088"/>
            <a:chOff x="681275" y="458425"/>
            <a:chExt cx="223125" cy="1404088"/>
          </a:xfrm>
        </p:grpSpPr>
        <p:sp>
          <p:nvSpPr>
            <p:cNvPr id="181" name="Google Shape;181;p14"/>
            <p:cNvSpPr/>
            <p:nvPr/>
          </p:nvSpPr>
          <p:spPr>
            <a:xfrm>
              <a:off x="681275" y="45842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681275" y="70260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681275" y="94679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81275" y="119097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681275" y="143515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681275" y="167933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843200" y="58040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843200" y="82458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843200" y="106876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843200" y="131294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843200" y="155713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843200" y="180131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14"/>
          <p:cNvSpPr/>
          <p:nvPr/>
        </p:nvSpPr>
        <p:spPr>
          <a:xfrm>
            <a:off x="2402488" y="457032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4"/>
          <p:cNvSpPr/>
          <p:nvPr/>
        </p:nvSpPr>
        <p:spPr>
          <a:xfrm flipH="1">
            <a:off x="8430775" y="3660575"/>
            <a:ext cx="1952700" cy="1982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/>
          <p:nvPr/>
        </p:nvSpPr>
        <p:spPr>
          <a:xfrm flipH="1">
            <a:off x="-1025775" y="2198150"/>
            <a:ext cx="1679100" cy="17049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4"/>
          <p:cNvSpPr/>
          <p:nvPr/>
        </p:nvSpPr>
        <p:spPr>
          <a:xfrm flipH="1">
            <a:off x="0" y="2960750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4"/>
          <p:cNvSpPr/>
          <p:nvPr/>
        </p:nvSpPr>
        <p:spPr>
          <a:xfrm flipH="1">
            <a:off x="8601075" y="437547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2955088" y="457032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01" name="Google Shape;201;p15"/>
          <p:cNvGrpSpPr/>
          <p:nvPr/>
        </p:nvGrpSpPr>
        <p:grpSpPr>
          <a:xfrm rot="-5400000">
            <a:off x="2986325" y="4177663"/>
            <a:ext cx="223125" cy="1404088"/>
            <a:chOff x="681275" y="458425"/>
            <a:chExt cx="223125" cy="1404088"/>
          </a:xfrm>
        </p:grpSpPr>
        <p:sp>
          <p:nvSpPr>
            <p:cNvPr id="202" name="Google Shape;202;p15"/>
            <p:cNvSpPr/>
            <p:nvPr/>
          </p:nvSpPr>
          <p:spPr>
            <a:xfrm>
              <a:off x="681275" y="45842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681275" y="70260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681275" y="94679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681275" y="119097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681275" y="143515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681275" y="167933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843200" y="58040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843200" y="82458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5"/>
            <p:cNvSpPr/>
            <p:nvPr/>
          </p:nvSpPr>
          <p:spPr>
            <a:xfrm>
              <a:off x="843200" y="106876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843200" y="131294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843200" y="155713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843200" y="180131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" name="Google Shape;214;p15"/>
          <p:cNvSpPr/>
          <p:nvPr/>
        </p:nvSpPr>
        <p:spPr>
          <a:xfrm>
            <a:off x="40288" y="182562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5"/>
          <p:cNvSpPr/>
          <p:nvPr/>
        </p:nvSpPr>
        <p:spPr>
          <a:xfrm flipH="1">
            <a:off x="8212800" y="4384475"/>
            <a:ext cx="1952700" cy="1982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"/>
          <p:cNvSpPr/>
          <p:nvPr/>
        </p:nvSpPr>
        <p:spPr>
          <a:xfrm flipH="1">
            <a:off x="8592700" y="3286375"/>
            <a:ext cx="1679100" cy="17049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5"/>
          <p:cNvSpPr/>
          <p:nvPr/>
        </p:nvSpPr>
        <p:spPr>
          <a:xfrm flipH="1">
            <a:off x="8658525" y="3918350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40288" y="243522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>
            <a:spLocks noGrp="1"/>
          </p:cNvSpPr>
          <p:nvPr>
            <p:ph type="ctrTitle"/>
          </p:nvPr>
        </p:nvSpPr>
        <p:spPr>
          <a:xfrm>
            <a:off x="2580325" y="723525"/>
            <a:ext cx="3983400" cy="115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subTitle" idx="1"/>
          </p:nvPr>
        </p:nvSpPr>
        <p:spPr>
          <a:xfrm>
            <a:off x="2694600" y="1944747"/>
            <a:ext cx="3754800" cy="98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subTitle" idx="2"/>
          </p:nvPr>
        </p:nvSpPr>
        <p:spPr>
          <a:xfrm>
            <a:off x="2125800" y="4065775"/>
            <a:ext cx="4892400" cy="3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2514400" y="3612725"/>
            <a:ext cx="4115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03" name="Google Shape;303;p20"/>
          <p:cNvSpPr/>
          <p:nvPr/>
        </p:nvSpPr>
        <p:spPr>
          <a:xfrm flipH="1">
            <a:off x="-343525" y="-251675"/>
            <a:ext cx="1952700" cy="1982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0"/>
          <p:cNvSpPr/>
          <p:nvPr/>
        </p:nvSpPr>
        <p:spPr>
          <a:xfrm flipH="1">
            <a:off x="359113" y="1216875"/>
            <a:ext cx="1191300" cy="12099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"/>
          <p:cNvSpPr/>
          <p:nvPr/>
        </p:nvSpPr>
        <p:spPr>
          <a:xfrm flipH="1">
            <a:off x="557525" y="196000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0"/>
          <p:cNvSpPr/>
          <p:nvPr/>
        </p:nvSpPr>
        <p:spPr>
          <a:xfrm flipH="1">
            <a:off x="7921925" y="3661925"/>
            <a:ext cx="2363100" cy="2399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/>
          <p:cNvSpPr/>
          <p:nvPr/>
        </p:nvSpPr>
        <p:spPr>
          <a:xfrm flipH="1">
            <a:off x="7332175" y="3385700"/>
            <a:ext cx="1864500" cy="1893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0"/>
          <p:cNvSpPr/>
          <p:nvPr/>
        </p:nvSpPr>
        <p:spPr>
          <a:xfrm flipH="1">
            <a:off x="8073250" y="2552725"/>
            <a:ext cx="1325400" cy="13458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21"/>
          <p:cNvGrpSpPr/>
          <p:nvPr/>
        </p:nvGrpSpPr>
        <p:grpSpPr>
          <a:xfrm>
            <a:off x="300275" y="383575"/>
            <a:ext cx="223125" cy="1404088"/>
            <a:chOff x="681275" y="458425"/>
            <a:chExt cx="223125" cy="1404088"/>
          </a:xfrm>
        </p:grpSpPr>
        <p:sp>
          <p:nvSpPr>
            <p:cNvPr id="311" name="Google Shape;311;p21"/>
            <p:cNvSpPr/>
            <p:nvPr/>
          </p:nvSpPr>
          <p:spPr>
            <a:xfrm>
              <a:off x="681275" y="45842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1"/>
            <p:cNvSpPr/>
            <p:nvPr/>
          </p:nvSpPr>
          <p:spPr>
            <a:xfrm>
              <a:off x="681275" y="70260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1"/>
            <p:cNvSpPr/>
            <p:nvPr/>
          </p:nvSpPr>
          <p:spPr>
            <a:xfrm>
              <a:off x="681275" y="94679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1"/>
            <p:cNvSpPr/>
            <p:nvPr/>
          </p:nvSpPr>
          <p:spPr>
            <a:xfrm>
              <a:off x="681275" y="119097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1"/>
            <p:cNvSpPr/>
            <p:nvPr/>
          </p:nvSpPr>
          <p:spPr>
            <a:xfrm>
              <a:off x="681275" y="143515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1"/>
            <p:cNvSpPr/>
            <p:nvPr/>
          </p:nvSpPr>
          <p:spPr>
            <a:xfrm>
              <a:off x="681275" y="167933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1"/>
            <p:cNvSpPr/>
            <p:nvPr/>
          </p:nvSpPr>
          <p:spPr>
            <a:xfrm>
              <a:off x="843200" y="58040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843200" y="82458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843200" y="106876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1"/>
            <p:cNvSpPr/>
            <p:nvPr/>
          </p:nvSpPr>
          <p:spPr>
            <a:xfrm>
              <a:off x="843200" y="131294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1"/>
            <p:cNvSpPr/>
            <p:nvPr/>
          </p:nvSpPr>
          <p:spPr>
            <a:xfrm>
              <a:off x="843200" y="155713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1"/>
            <p:cNvSpPr/>
            <p:nvPr/>
          </p:nvSpPr>
          <p:spPr>
            <a:xfrm>
              <a:off x="843200" y="180131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3" name="Google Shape;323;p21"/>
          <p:cNvSpPr/>
          <p:nvPr/>
        </p:nvSpPr>
        <p:spPr>
          <a:xfrm>
            <a:off x="2402488" y="457032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1"/>
          <p:cNvSpPr/>
          <p:nvPr/>
        </p:nvSpPr>
        <p:spPr>
          <a:xfrm flipH="1">
            <a:off x="6916300" y="3660575"/>
            <a:ext cx="1952700" cy="1982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1"/>
          <p:cNvSpPr/>
          <p:nvPr/>
        </p:nvSpPr>
        <p:spPr>
          <a:xfrm flipH="1">
            <a:off x="7699250" y="2349300"/>
            <a:ext cx="2751900" cy="27942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1"/>
          <p:cNvSpPr/>
          <p:nvPr/>
        </p:nvSpPr>
        <p:spPr>
          <a:xfrm flipH="1">
            <a:off x="7428700" y="335127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"/>
          <p:cNvSpPr/>
          <p:nvPr/>
        </p:nvSpPr>
        <p:spPr>
          <a:xfrm flipH="1">
            <a:off x="7086600" y="437547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2955088" y="457032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1849888" y="457032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1"/>
          <p:cNvSpPr/>
          <p:nvPr/>
        </p:nvSpPr>
        <p:spPr>
          <a:xfrm flipH="1">
            <a:off x="8430775" y="1855850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2"/>
          <p:cNvSpPr/>
          <p:nvPr/>
        </p:nvSpPr>
        <p:spPr>
          <a:xfrm flipH="1">
            <a:off x="7702850" y="1386250"/>
            <a:ext cx="2363100" cy="2399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2"/>
          <p:cNvSpPr/>
          <p:nvPr/>
        </p:nvSpPr>
        <p:spPr>
          <a:xfrm flipH="1">
            <a:off x="8083925" y="615200"/>
            <a:ext cx="1864500" cy="1893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2"/>
          <p:cNvSpPr/>
          <p:nvPr/>
        </p:nvSpPr>
        <p:spPr>
          <a:xfrm flipH="1">
            <a:off x="7753900" y="2110625"/>
            <a:ext cx="1864500" cy="1893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2"/>
          <p:cNvSpPr/>
          <p:nvPr/>
        </p:nvSpPr>
        <p:spPr>
          <a:xfrm flipH="1">
            <a:off x="-343525" y="-451700"/>
            <a:ext cx="1952700" cy="1982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2"/>
          <p:cNvSpPr/>
          <p:nvPr/>
        </p:nvSpPr>
        <p:spPr>
          <a:xfrm flipH="1">
            <a:off x="168875" y="919900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2"/>
          <p:cNvSpPr/>
          <p:nvPr/>
        </p:nvSpPr>
        <p:spPr>
          <a:xfrm flipH="1">
            <a:off x="-103086" y="1365400"/>
            <a:ext cx="1632600" cy="16581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2"/>
          <p:cNvSpPr/>
          <p:nvPr/>
        </p:nvSpPr>
        <p:spPr>
          <a:xfrm flipH="1">
            <a:off x="2640114" y="4470550"/>
            <a:ext cx="1632600" cy="16581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2"/>
          <p:cNvSpPr/>
          <p:nvPr/>
        </p:nvSpPr>
        <p:spPr>
          <a:xfrm flipH="1">
            <a:off x="2992475" y="414887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0" name="Google Shape;340;p22"/>
          <p:cNvGrpSpPr/>
          <p:nvPr/>
        </p:nvGrpSpPr>
        <p:grpSpPr>
          <a:xfrm rot="-5400000">
            <a:off x="4510850" y="-274100"/>
            <a:ext cx="223125" cy="1404088"/>
            <a:chOff x="681275" y="458425"/>
            <a:chExt cx="223125" cy="1404088"/>
          </a:xfrm>
        </p:grpSpPr>
        <p:sp>
          <p:nvSpPr>
            <p:cNvPr id="341" name="Google Shape;341;p22"/>
            <p:cNvSpPr/>
            <p:nvPr/>
          </p:nvSpPr>
          <p:spPr>
            <a:xfrm>
              <a:off x="681275" y="45842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/>
            <p:nvPr/>
          </p:nvSpPr>
          <p:spPr>
            <a:xfrm>
              <a:off x="681275" y="70260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2"/>
            <p:cNvSpPr/>
            <p:nvPr/>
          </p:nvSpPr>
          <p:spPr>
            <a:xfrm>
              <a:off x="681275" y="94679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2"/>
            <p:cNvSpPr/>
            <p:nvPr/>
          </p:nvSpPr>
          <p:spPr>
            <a:xfrm>
              <a:off x="681275" y="119097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/>
            <p:nvPr/>
          </p:nvSpPr>
          <p:spPr>
            <a:xfrm>
              <a:off x="681275" y="143515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2"/>
            <p:cNvSpPr/>
            <p:nvPr/>
          </p:nvSpPr>
          <p:spPr>
            <a:xfrm>
              <a:off x="681275" y="167933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2"/>
            <p:cNvSpPr/>
            <p:nvPr/>
          </p:nvSpPr>
          <p:spPr>
            <a:xfrm>
              <a:off x="843200" y="58040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2"/>
            <p:cNvSpPr/>
            <p:nvPr/>
          </p:nvSpPr>
          <p:spPr>
            <a:xfrm>
              <a:off x="843200" y="82458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2"/>
            <p:cNvSpPr/>
            <p:nvPr/>
          </p:nvSpPr>
          <p:spPr>
            <a:xfrm>
              <a:off x="843200" y="106876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843200" y="131294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843200" y="155713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843200" y="180131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3" name="Google Shape;353;p22"/>
          <p:cNvSpPr/>
          <p:nvPr/>
        </p:nvSpPr>
        <p:spPr>
          <a:xfrm>
            <a:off x="5862888" y="43322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2"/>
          <p:cNvSpPr/>
          <p:nvPr/>
        </p:nvSpPr>
        <p:spPr>
          <a:xfrm>
            <a:off x="6459988" y="43322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 b="1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6" r:id="rId5"/>
    <p:sldLayoutId id="2147483658" r:id="rId6"/>
    <p:sldLayoutId id="2147483660" r:id="rId7"/>
    <p:sldLayoutId id="2147483661" r:id="rId8"/>
    <p:sldLayoutId id="2147483666" r:id="rId9"/>
    <p:sldLayoutId id="2147483667" r:id="rId10"/>
    <p:sldLayoutId id="214748366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gif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gif"/><Relationship Id="rId4" Type="http://schemas.openxmlformats.org/officeDocument/2006/relationships/image" Target="../media/image3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gif"/><Relationship Id="rId4" Type="http://schemas.openxmlformats.org/officeDocument/2006/relationships/image" Target="../media/image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gif"/><Relationship Id="rId4" Type="http://schemas.openxmlformats.org/officeDocument/2006/relationships/image" Target="../media/image3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gif"/><Relationship Id="rId4" Type="http://schemas.openxmlformats.org/officeDocument/2006/relationships/image" Target="../media/image3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gi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6"/>
          <p:cNvSpPr txBox="1">
            <a:spLocks noGrp="1"/>
          </p:cNvSpPr>
          <p:nvPr>
            <p:ph type="ctrTitle"/>
          </p:nvPr>
        </p:nvSpPr>
        <p:spPr>
          <a:xfrm>
            <a:off x="1449375" y="1089700"/>
            <a:ext cx="6245400" cy="250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/>
              <a:t> Supply Chain &amp; Inventory Management</a:t>
            </a:r>
            <a:br>
              <a:rPr lang="en-US" sz="5000" dirty="0"/>
            </a:br>
            <a:r>
              <a:rPr lang="en" sz="4000" dirty="0">
                <a:solidFill>
                  <a:schemeClr val="lt2"/>
                </a:solidFill>
              </a:rPr>
              <a:t>Analysis</a:t>
            </a:r>
            <a:endParaRPr sz="4000" dirty="0">
              <a:solidFill>
                <a:schemeClr val="lt2"/>
              </a:solidFill>
            </a:endParaRPr>
          </a:p>
        </p:txBody>
      </p:sp>
      <p:sp>
        <p:nvSpPr>
          <p:cNvPr id="366" name="Google Shape;366;p26"/>
          <p:cNvSpPr txBox="1">
            <a:spLocks noGrp="1"/>
          </p:cNvSpPr>
          <p:nvPr>
            <p:ph type="subTitle" idx="1"/>
          </p:nvPr>
        </p:nvSpPr>
        <p:spPr>
          <a:xfrm>
            <a:off x="2529900" y="3593600"/>
            <a:ext cx="4084200" cy="46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Done by Ameer Batcha</a:t>
            </a:r>
            <a:endParaRPr dirty="0"/>
          </a:p>
        </p:txBody>
      </p:sp>
      <p:sp>
        <p:nvSpPr>
          <p:cNvPr id="367" name="Google Shape;367;p26"/>
          <p:cNvSpPr/>
          <p:nvPr/>
        </p:nvSpPr>
        <p:spPr>
          <a:xfrm flipH="1">
            <a:off x="-788325" y="1986850"/>
            <a:ext cx="1952700" cy="1982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"/>
          <p:cNvSpPr/>
          <p:nvPr/>
        </p:nvSpPr>
        <p:spPr>
          <a:xfrm flipH="1">
            <a:off x="7420325" y="-165200"/>
            <a:ext cx="1388100" cy="14094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 flipH="1">
            <a:off x="7544150" y="458425"/>
            <a:ext cx="927900" cy="942300"/>
          </a:xfrm>
          <a:prstGeom prst="parallelogram">
            <a:avLst>
              <a:gd name="adj" fmla="val 57078"/>
            </a:avLst>
          </a:prstGeom>
          <a:gradFill>
            <a:gsLst>
              <a:gs pos="0">
                <a:schemeClr val="lt2">
                  <a:alpha val="56519"/>
                </a:schemeClr>
              </a:gs>
              <a:gs pos="100000">
                <a:srgbClr val="FF5E45">
                  <a:alpha val="0"/>
                  <a:alpha val="56519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0" name="Google Shape;370;p26"/>
          <p:cNvGrpSpPr/>
          <p:nvPr/>
        </p:nvGrpSpPr>
        <p:grpSpPr>
          <a:xfrm>
            <a:off x="681275" y="458425"/>
            <a:ext cx="223125" cy="1404088"/>
            <a:chOff x="681275" y="458425"/>
            <a:chExt cx="223125" cy="1404088"/>
          </a:xfrm>
        </p:grpSpPr>
        <p:sp>
          <p:nvSpPr>
            <p:cNvPr id="371" name="Google Shape;371;p26"/>
            <p:cNvSpPr/>
            <p:nvPr/>
          </p:nvSpPr>
          <p:spPr>
            <a:xfrm>
              <a:off x="681275" y="45842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681275" y="70260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681275" y="94679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681275" y="119097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681275" y="143515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681275" y="167933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843200" y="58040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843200" y="82458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843200" y="106876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843200" y="131294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843200" y="155713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843200" y="180131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3" name="Google Shape;383;p26"/>
          <p:cNvSpPr/>
          <p:nvPr/>
        </p:nvSpPr>
        <p:spPr>
          <a:xfrm>
            <a:off x="7657100" y="42992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26"/>
          <p:cNvSpPr/>
          <p:nvPr/>
        </p:nvSpPr>
        <p:spPr>
          <a:xfrm>
            <a:off x="8209700" y="42992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 txBox="1">
            <a:spLocks noGrp="1"/>
          </p:cNvSpPr>
          <p:nvPr>
            <p:ph type="title"/>
          </p:nvPr>
        </p:nvSpPr>
        <p:spPr>
          <a:xfrm>
            <a:off x="773339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CONTENTS </a:t>
            </a:r>
            <a:endParaRPr sz="2400" dirty="0"/>
          </a:p>
        </p:txBody>
      </p:sp>
      <p:graphicFrame>
        <p:nvGraphicFramePr>
          <p:cNvPr id="390" name="Google Shape;390;p27"/>
          <p:cNvGraphicFramePr/>
          <p:nvPr>
            <p:extLst>
              <p:ext uri="{D42A27DB-BD31-4B8C-83A1-F6EECF244321}">
                <p14:modId xmlns:p14="http://schemas.microsoft.com/office/powerpoint/2010/main" val="2979174078"/>
              </p:ext>
            </p:extLst>
          </p:nvPr>
        </p:nvGraphicFramePr>
        <p:xfrm>
          <a:off x="1859278" y="572700"/>
          <a:ext cx="5654041" cy="4539070"/>
        </p:xfrm>
        <a:graphic>
          <a:graphicData uri="http://schemas.openxmlformats.org/drawingml/2006/table">
            <a:tbl>
              <a:tblPr>
                <a:noFill/>
                <a:tableStyleId>{B0DA8A95-9DE7-4649-BA9A-2FF249D98C58}</a:tableStyleId>
              </a:tblPr>
              <a:tblGrid>
                <a:gridCol w="5191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5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Status Of Orders</a:t>
                      </a: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5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Status Of Delivery </a:t>
                      </a:r>
                      <a:b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5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Total Inventory Stock</a:t>
                      </a:r>
                      <a:b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5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Total Value Of Inventory</a:t>
                      </a: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56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Total Stock</a:t>
                      </a: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Seasonal Trend Analysis (w.r.t ORDER QUANTITY)</a:t>
                      </a: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0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Shipping Mode</a:t>
                      </a:r>
                      <a:b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(Most Efficient Shipping Mode in Terms of Not Delaying)</a:t>
                      </a: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613301"/>
                  </a:ext>
                </a:extLst>
              </a:tr>
              <a:tr h="59352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Profitable Categories (Top 5)</a:t>
                      </a:r>
                      <a:b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389411"/>
                  </a:ext>
                </a:extLst>
              </a:tr>
              <a:tr h="4305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Geospatial Analysis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323974"/>
                  </a:ext>
                </a:extLst>
              </a:tr>
              <a:tr h="523694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Oswald" panose="00000500000000000000" pitchFamily="2" charset="0"/>
                        </a:rPr>
                        <a:t>Countries with the Highest Total Profit (Top 10)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gradFill>
                      <a:gsLst>
                        <a:gs pos="0">
                          <a:schemeClr val="lt2"/>
                        </a:gs>
                        <a:gs pos="100000">
                          <a:srgbClr val="FF5E45">
                            <a:alpha val="0"/>
                          </a:srgbClr>
                        </a:gs>
                      </a:gsLst>
                      <a:lin ang="54007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endParaRPr sz="1000" b="1" dirty="0">
                        <a:solidFill>
                          <a:schemeClr val="tx1"/>
                        </a:solidFill>
                        <a:latin typeface="Arimo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5831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EF1643-B032-6684-AB9C-88C5DF7620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328656"/>
              </p:ext>
            </p:extLst>
          </p:nvPr>
        </p:nvGraphicFramePr>
        <p:xfrm>
          <a:off x="1616766" y="783590"/>
          <a:ext cx="6096000" cy="333756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04291797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66598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HIGH LEVEL METRICS</a:t>
                      </a:r>
                      <a:endParaRPr lang="en-US" b="1" dirty="0">
                        <a:solidFill>
                          <a:srgbClr val="00B05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TOTAL VALUE</a:t>
                      </a:r>
                      <a:endParaRPr lang="en-US" b="1" dirty="0">
                        <a:solidFill>
                          <a:srgbClr val="00B05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Total Sale Value</a:t>
                      </a:r>
                      <a:endParaRPr lang="en-US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36784735.01337984</a:t>
                      </a:r>
                      <a:endParaRPr lang="en-US" b="1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74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Total Sale Units</a:t>
                      </a:r>
                      <a:endParaRPr lang="en-US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384079</a:t>
                      </a:r>
                      <a:endParaRPr lang="en-US" b="1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5207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Inventory Value</a:t>
                      </a:r>
                      <a:endParaRPr lang="en-US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2536160997.4468727</a:t>
                      </a:r>
                      <a:endParaRPr lang="en-US" b="1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2601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Inventory Quantity</a:t>
                      </a:r>
                      <a:endParaRPr lang="en-US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30378127</a:t>
                      </a:r>
                      <a:endParaRPr lang="en-US" b="1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6260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Profit Value</a:t>
                      </a:r>
                      <a:endParaRPr lang="en-US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3966902.9740503575</a:t>
                      </a:r>
                      <a:endParaRPr lang="en-US" b="1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692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Number of Distinct Products</a:t>
                      </a:r>
                      <a:endParaRPr lang="en-US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118</a:t>
                      </a:r>
                      <a:endParaRPr lang="en-US" b="1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4246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Number of Distinct Categories</a:t>
                      </a:r>
                      <a:endParaRPr lang="en-US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51</a:t>
                      </a:r>
                      <a:endParaRPr lang="en-US" b="1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609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Number of Distinct Customers</a:t>
                      </a:r>
                      <a:endParaRPr lang="en-US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20652</a:t>
                      </a:r>
                      <a:endParaRPr lang="en-US" b="1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479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34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F4EC9-B6F7-2330-B643-A0DF1A8B6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999" y="124303"/>
            <a:ext cx="7704000" cy="572700"/>
          </a:xfrm>
        </p:spPr>
        <p:txBody>
          <a:bodyPr/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Helvetica Neue"/>
              </a:rPr>
              <a:t>Status of Orders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BE461B-7AA6-D285-37AD-7226457C7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" y="838102"/>
            <a:ext cx="5996940" cy="332274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8D2044-3D27-DA2A-ED7B-01E3F55C3F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8"/>
          <a:stretch/>
        </p:blipFill>
        <p:spPr>
          <a:xfrm>
            <a:off x="7541474" y="1195054"/>
            <a:ext cx="1475560" cy="260884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2FC765-53A7-181D-35A6-A4FD47B0B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492982" y="2571750"/>
            <a:ext cx="788670" cy="262890"/>
          </a:xfrm>
          <a:prstGeom prst="rect">
            <a:avLst/>
          </a:prstGeom>
        </p:spPr>
      </p:pic>
      <p:pic>
        <p:nvPicPr>
          <p:cNvPr id="2050" name="Picture 2" descr="GIF NO:39,40 | PeakD">
            <a:extLst>
              <a:ext uri="{FF2B5EF4-FFF2-40B4-BE49-F238E27FC236}">
                <a16:creationId xmlns:a16="http://schemas.microsoft.com/office/drawing/2014/main" id="{25251B9F-582D-2CBE-131F-4950527225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7" t="10812" r="66100" b="23152"/>
          <a:stretch/>
        </p:blipFill>
        <p:spPr bwMode="auto">
          <a:xfrm>
            <a:off x="6233160" y="124302"/>
            <a:ext cx="984152" cy="57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2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831F-5951-E4E6-F1F3-DA2639AEC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</p:spPr>
        <p:txBody>
          <a:bodyPr/>
          <a:lstStyle/>
          <a:p>
            <a:r>
              <a:rPr lang="en-US" b="1" i="0" dirty="0">
                <a:solidFill>
                  <a:srgbClr val="FF0000"/>
                </a:solidFill>
                <a:effectLst/>
                <a:latin typeface="Helvetica Neue"/>
              </a:rPr>
              <a:t>Status of Delivery 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282489-E730-D62E-5D98-6B79DB936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" y="1083240"/>
            <a:ext cx="5274859" cy="284422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C3C4AD-0C8C-7E38-382B-6F5F677396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74" t="9692" r="20151"/>
          <a:stretch/>
        </p:blipFill>
        <p:spPr>
          <a:xfrm>
            <a:off x="6644640" y="1727367"/>
            <a:ext cx="1554480" cy="16887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37223B-C074-5B47-DC9E-6502642F3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729244" y="2571750"/>
            <a:ext cx="788670" cy="2628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14914C-A418-3A91-BF92-37197374F6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034" t="14011" r="32147" b="5989"/>
          <a:stretch/>
        </p:blipFill>
        <p:spPr>
          <a:xfrm>
            <a:off x="6220715" y="51981"/>
            <a:ext cx="594397" cy="6228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433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21F39-D474-7A04-B952-2FC37C8F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1438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Helvetica Neue"/>
              </a:rPr>
              <a:t>Total </a:t>
            </a:r>
            <a:r>
              <a:rPr lang="en-US" b="1" i="0" dirty="0">
                <a:solidFill>
                  <a:srgbClr val="FF0000"/>
                </a:solidFill>
                <a:effectLst/>
                <a:latin typeface="Helvetica Neue"/>
              </a:rPr>
              <a:t>Inventory Stock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4FDACF-0441-B025-4D95-D267F9AD4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63" y="1157700"/>
            <a:ext cx="4826545" cy="257175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25749C-B39D-4094-BFA4-C600E87904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78" r="6460"/>
          <a:stretch/>
        </p:blipFill>
        <p:spPr>
          <a:xfrm>
            <a:off x="6305265" y="1742474"/>
            <a:ext cx="2838735" cy="140220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3E7785-EAC1-9DDF-965F-7F9E7FF6D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84301" y="2571750"/>
            <a:ext cx="788670" cy="2628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F9734-47B4-1F68-E537-223C6FAECBC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706" t="4001" r="8370" b="6594"/>
          <a:stretch/>
        </p:blipFill>
        <p:spPr>
          <a:xfrm>
            <a:off x="6735459" y="91686"/>
            <a:ext cx="491031" cy="46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0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3647-63AE-2F2D-59DA-F2F339662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0955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Total Value OF Inventory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21BB1-227D-831E-CCAC-978AFC267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48" r="6015" b="1994"/>
          <a:stretch/>
        </p:blipFill>
        <p:spPr>
          <a:xfrm>
            <a:off x="69245" y="1403890"/>
            <a:ext cx="5287618" cy="2721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48F096-12C6-0A85-BC28-D9F68E0DC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47" y="2083846"/>
            <a:ext cx="2713053" cy="1361719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AA879-AFFC-867F-1B9F-0257A4507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499570" y="2708910"/>
            <a:ext cx="788670" cy="2628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E85ACB-1E99-12B8-B7A1-EFED4F80DAE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746"/>
          <a:stretch/>
        </p:blipFill>
        <p:spPr>
          <a:xfrm>
            <a:off x="6719703" y="86725"/>
            <a:ext cx="647634" cy="4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04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F34C6-0772-F185-0719-E48C2D0C8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5592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Total Stock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FE8F82-7133-A5A1-992C-8577DFA2B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1204627"/>
            <a:ext cx="5291937" cy="27342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F8C6BE-A853-0F5C-2092-3D4574238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392" y="1866839"/>
            <a:ext cx="2857748" cy="140982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D07E8B-6DCB-C749-FF2B-4E9C1B040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442461" y="2571750"/>
            <a:ext cx="788670" cy="2628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8314D1-74C8-3881-A88C-F5E7D2084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747" y="85634"/>
            <a:ext cx="855290" cy="47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79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13F1-9A80-7C9C-B9F2-FFBE2F13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39" y="5399"/>
            <a:ext cx="7639878" cy="683714"/>
          </a:xfrm>
        </p:spPr>
        <p:txBody>
          <a:bodyPr/>
          <a:lstStyle/>
          <a:p>
            <a:r>
              <a:rPr lang="en-US" sz="2200" dirty="0"/>
              <a:t>Seasonal Trend Analysis</a:t>
            </a:r>
            <a:br>
              <a:rPr lang="en-US" sz="2200" dirty="0"/>
            </a:br>
            <a:r>
              <a:rPr lang="en-US" sz="2200" dirty="0"/>
              <a:t> (w.r.t ORDER QUANTITY)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A025C6-97A1-9569-BB63-E841C4AF9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1" y="870822"/>
            <a:ext cx="9090217" cy="3673394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F27BF4-A3C1-F0CE-8D05-FE602335F8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97" t="19284" r="10565" b="27533"/>
          <a:stretch/>
        </p:blipFill>
        <p:spPr>
          <a:xfrm>
            <a:off x="6326342" y="59808"/>
            <a:ext cx="1194268" cy="5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772E-72C0-CA3B-936F-868E9C2FD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</p:spPr>
        <p:txBody>
          <a:bodyPr/>
          <a:lstStyle/>
          <a:p>
            <a:r>
              <a:rPr lang="en-US" sz="2400" dirty="0"/>
              <a:t>Shipping Mode</a:t>
            </a:r>
            <a:br>
              <a:rPr lang="en-US" sz="2400" dirty="0"/>
            </a:br>
            <a:r>
              <a:rPr lang="en-US" sz="2400" dirty="0"/>
              <a:t>(Most Efficient Shipping Mode in Terms of Not Delaying)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DB897-E674-7860-C414-B572917A0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37" y="1217560"/>
            <a:ext cx="4817165" cy="284991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15FD7A-B17A-AB03-3B8B-DE78A47A6A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2" t="8720"/>
          <a:stretch/>
        </p:blipFill>
        <p:spPr>
          <a:xfrm>
            <a:off x="7033923" y="1830918"/>
            <a:ext cx="1630017" cy="1481663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577237-52B2-7310-C84B-A76ABA77E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761462" y="2511073"/>
            <a:ext cx="788670" cy="2628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A1A684-90AE-02CB-9F9E-43A23A890BB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5082" b="19619"/>
          <a:stretch/>
        </p:blipFill>
        <p:spPr>
          <a:xfrm>
            <a:off x="5665304" y="66375"/>
            <a:ext cx="649357" cy="3622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63917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200FFF-EEFC-C219-127B-437FF9158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  <a:latin typeface="Helvetica Neue"/>
              </a:rPr>
              <a:t>P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Helvetica Neue"/>
              </a:rPr>
              <a:t>rofitable </a:t>
            </a:r>
            <a:r>
              <a:rPr lang="en-US" sz="2800" dirty="0">
                <a:solidFill>
                  <a:srgbClr val="FF0000"/>
                </a:solidFill>
                <a:latin typeface="Helvetica Neue"/>
              </a:rPr>
              <a:t>C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Helvetica Neue"/>
              </a:rPr>
              <a:t>ategories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Helvetica Neue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Helvetica Neue"/>
              </a:rPr>
              <a:t>(Top 5)</a:t>
            </a: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493FE-B1EF-39AF-F9A4-EE93A8566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8" y="1089101"/>
            <a:ext cx="5868616" cy="296529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3E94DC-09EE-F018-62D9-A3A0C380E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800" y="1642029"/>
            <a:ext cx="1844200" cy="1859441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4B4A49-B3C8-D40D-8B68-BDEE41F5E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189873" y="2571749"/>
            <a:ext cx="788670" cy="26289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B211A8-D2C0-BA77-1B48-779BF05D7CC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350" t="15518" r="21639" b="12919"/>
          <a:stretch/>
        </p:blipFill>
        <p:spPr>
          <a:xfrm>
            <a:off x="6584208" y="129162"/>
            <a:ext cx="512331" cy="47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559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8F2EE8-EFA6-0445-9443-6BA5FD1B0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139" y="975029"/>
            <a:ext cx="5734207" cy="31934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0AEF78-4317-6FAC-C01B-B0B4866550A2}"/>
              </a:ext>
            </a:extLst>
          </p:cNvPr>
          <p:cNvSpPr txBox="1"/>
          <p:nvPr/>
        </p:nvSpPr>
        <p:spPr>
          <a:xfrm>
            <a:off x="2438400" y="87868"/>
            <a:ext cx="4678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rgbClr val="FF0000"/>
                </a:solidFill>
                <a:effectLst/>
                <a:latin typeface="Helvetica Neue"/>
              </a:rPr>
              <a:t>Geospatial Analysis</a:t>
            </a:r>
          </a:p>
        </p:txBody>
      </p:sp>
      <p:pic>
        <p:nvPicPr>
          <p:cNvPr id="1026" name="Picture 2" descr="Planet Earth spinning 360 degrees around its own axis on a dark blue  background symbolizing the o… | Globe animation, Earth illustration, Vector  illustration people">
            <a:extLst>
              <a:ext uri="{FF2B5EF4-FFF2-40B4-BE49-F238E27FC236}">
                <a16:creationId xmlns:a16="http://schemas.microsoft.com/office/drawing/2014/main" id="{5F150892-325E-A884-E383-403D61E32F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5" t="20616" r="20306" b="20636"/>
          <a:stretch/>
        </p:blipFill>
        <p:spPr bwMode="auto">
          <a:xfrm>
            <a:off x="6504263" y="87868"/>
            <a:ext cx="464101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800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3A1BB28-67E5-720C-23E8-E4527F0BB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1" y="922437"/>
            <a:ext cx="7193903" cy="37036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1CF49AF-70EB-F7BC-FB6E-F3C29B76E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590" y="1180979"/>
            <a:ext cx="1836579" cy="278154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0A83796-7238-8285-655C-F8A5245339FD}"/>
              </a:ext>
            </a:extLst>
          </p:cNvPr>
          <p:cNvSpPr txBox="1"/>
          <p:nvPr/>
        </p:nvSpPr>
        <p:spPr>
          <a:xfrm>
            <a:off x="746760" y="91440"/>
            <a:ext cx="7437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Oswald" panose="00000500000000000000" pitchFamily="2" charset="0"/>
              </a:rPr>
              <a:t>Countries with the Highest Total Profit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  <a:latin typeface="Oswald" panose="00000500000000000000" pitchFamily="2" charset="0"/>
              </a:rPr>
              <a:t>(Top 10)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B33E13-CD34-3385-F864-D361D2E0E8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70" r="6881" b="3322"/>
          <a:stretch/>
        </p:blipFill>
        <p:spPr>
          <a:xfrm>
            <a:off x="7118842" y="97517"/>
            <a:ext cx="714973" cy="46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15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5"/>
          <p:cNvSpPr txBox="1">
            <a:spLocks noGrp="1"/>
          </p:cNvSpPr>
          <p:nvPr>
            <p:ph type="ctrTitle"/>
          </p:nvPr>
        </p:nvSpPr>
        <p:spPr>
          <a:xfrm>
            <a:off x="2409480" y="1664020"/>
            <a:ext cx="4590145" cy="115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  <p:grpSp>
        <p:nvGrpSpPr>
          <p:cNvPr id="748" name="Google Shape;748;p45"/>
          <p:cNvGrpSpPr/>
          <p:nvPr/>
        </p:nvGrpSpPr>
        <p:grpSpPr>
          <a:xfrm>
            <a:off x="843200" y="3274450"/>
            <a:ext cx="223125" cy="1404088"/>
            <a:chOff x="681275" y="458425"/>
            <a:chExt cx="223125" cy="1404088"/>
          </a:xfrm>
        </p:grpSpPr>
        <p:sp>
          <p:nvSpPr>
            <p:cNvPr id="749" name="Google Shape;749;p45"/>
            <p:cNvSpPr/>
            <p:nvPr/>
          </p:nvSpPr>
          <p:spPr>
            <a:xfrm>
              <a:off x="681275" y="45842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45"/>
            <p:cNvSpPr/>
            <p:nvPr/>
          </p:nvSpPr>
          <p:spPr>
            <a:xfrm>
              <a:off x="681275" y="70260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45"/>
            <p:cNvSpPr/>
            <p:nvPr/>
          </p:nvSpPr>
          <p:spPr>
            <a:xfrm>
              <a:off x="681275" y="94679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45"/>
            <p:cNvSpPr/>
            <p:nvPr/>
          </p:nvSpPr>
          <p:spPr>
            <a:xfrm>
              <a:off x="681275" y="119097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45"/>
            <p:cNvSpPr/>
            <p:nvPr/>
          </p:nvSpPr>
          <p:spPr>
            <a:xfrm>
              <a:off x="681275" y="143515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45"/>
            <p:cNvSpPr/>
            <p:nvPr/>
          </p:nvSpPr>
          <p:spPr>
            <a:xfrm>
              <a:off x="681275" y="167933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45"/>
            <p:cNvSpPr/>
            <p:nvPr/>
          </p:nvSpPr>
          <p:spPr>
            <a:xfrm>
              <a:off x="843200" y="58040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45"/>
            <p:cNvSpPr/>
            <p:nvPr/>
          </p:nvSpPr>
          <p:spPr>
            <a:xfrm>
              <a:off x="843200" y="82458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45"/>
            <p:cNvSpPr/>
            <p:nvPr/>
          </p:nvSpPr>
          <p:spPr>
            <a:xfrm>
              <a:off x="843200" y="1068765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5"/>
            <p:cNvSpPr/>
            <p:nvPr/>
          </p:nvSpPr>
          <p:spPr>
            <a:xfrm>
              <a:off x="843200" y="1312948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5"/>
            <p:cNvSpPr/>
            <p:nvPr/>
          </p:nvSpPr>
          <p:spPr>
            <a:xfrm>
              <a:off x="843200" y="1557130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5"/>
            <p:cNvSpPr/>
            <p:nvPr/>
          </p:nvSpPr>
          <p:spPr>
            <a:xfrm>
              <a:off x="843200" y="1801313"/>
              <a:ext cx="61200" cy="61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1" name="Google Shape;761;p45"/>
          <p:cNvSpPr/>
          <p:nvPr/>
        </p:nvSpPr>
        <p:spPr>
          <a:xfrm>
            <a:off x="6882925" y="10263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45"/>
          <p:cNvSpPr/>
          <p:nvPr/>
        </p:nvSpPr>
        <p:spPr>
          <a:xfrm>
            <a:off x="7435525" y="10263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5"/>
          <p:cNvSpPr/>
          <p:nvPr/>
        </p:nvSpPr>
        <p:spPr>
          <a:xfrm>
            <a:off x="7988125" y="1026375"/>
            <a:ext cx="552600" cy="552600"/>
          </a:xfrm>
          <a:prstGeom prst="mathMultiply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63363F-73EE-A5F6-5E09-2EAD73E1BFA4}"/>
              </a:ext>
            </a:extLst>
          </p:cNvPr>
          <p:cNvSpPr/>
          <p:nvPr/>
        </p:nvSpPr>
        <p:spPr>
          <a:xfrm>
            <a:off x="2621280" y="3762815"/>
            <a:ext cx="4053840" cy="3049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zard Analysis and Risk Assessment Consulting by Slidesgo">
  <a:themeElements>
    <a:clrScheme name="Simple Light">
      <a:dk1>
        <a:srgbClr val="FFFFFF"/>
      </a:dk1>
      <a:lt1>
        <a:srgbClr val="000000"/>
      </a:lt1>
      <a:dk2>
        <a:srgbClr val="666666"/>
      </a:dk2>
      <a:lt2>
        <a:srgbClr val="FF5E45"/>
      </a:lt2>
      <a:accent1>
        <a:srgbClr val="FFCF45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180</Words>
  <Application>Microsoft Office PowerPoint</Application>
  <PresentationFormat>On-screen Show (16:9)</PresentationFormat>
  <Paragraphs>43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Arimo</vt:lpstr>
      <vt:lpstr>Arial Narrow</vt:lpstr>
      <vt:lpstr>Helvetica Neue</vt:lpstr>
      <vt:lpstr>Oswald</vt:lpstr>
      <vt:lpstr>Open Sans</vt:lpstr>
      <vt:lpstr>Arial</vt:lpstr>
      <vt:lpstr>Hazard Analysis and Risk Assessment Consulting by Slidesgo</vt:lpstr>
      <vt:lpstr> Supply Chain &amp; Inventory Management Analysis</vt:lpstr>
      <vt:lpstr>CONTENTS </vt:lpstr>
      <vt:lpstr>PowerPoint Presentation</vt:lpstr>
      <vt:lpstr>Status of Orders </vt:lpstr>
      <vt:lpstr>Status of Delivery  </vt:lpstr>
      <vt:lpstr>Total Inventory Stock </vt:lpstr>
      <vt:lpstr>Total Value OF Inventory</vt:lpstr>
      <vt:lpstr>Total Stock</vt:lpstr>
      <vt:lpstr>Seasonal Trend Analysis  (w.r.t ORDER QUANTITY)</vt:lpstr>
      <vt:lpstr>Shipping Mode (Most Efficient Shipping Mode in Terms of Not Delaying)</vt:lpstr>
      <vt:lpstr>Profitable Categories (Top 5) 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Supply Chain &amp; Inventory Management Analysis</dc:title>
  <dc:creator>ameer batcha</dc:creator>
  <cp:lastModifiedBy>ameer batcha</cp:lastModifiedBy>
  <cp:revision>5</cp:revision>
  <dcterms:modified xsi:type="dcterms:W3CDTF">2023-10-13T21:28:36Z</dcterms:modified>
</cp:coreProperties>
</file>